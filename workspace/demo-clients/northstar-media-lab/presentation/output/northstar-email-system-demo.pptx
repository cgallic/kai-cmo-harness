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f47a6b5684488f" /><Relationship Type="http://schemas.openxmlformats.org/officeDocument/2006/relationships/extended-properties" Target="/docProps/app.xml" Id="R125079462cd6451a" /><Relationship Type="http://schemas.openxmlformats.org/officeDocument/2006/relationships/officeDocument" Target="/ppt/presentation.xml" Id="Rc98b262f3cf649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8def29778f417f"/>
  </p:sldMasterIdLst>
  <p:notesMasterIdLst>
    <p:notesMasterId xmlns:r="http://schemas.openxmlformats.org/officeDocument/2006/relationships" r:id="R7fa175cb85814aa0"/>
  </p:notesMasterIdLst>
  <p:sldIdLst>
    <p:sldId xmlns:r="http://schemas.openxmlformats.org/officeDocument/2006/relationships" id="256" r:id="Ref3c68a85c2547da"/>
    <p:sldId xmlns:r="http://schemas.openxmlformats.org/officeDocument/2006/relationships" id="257" r:id="R4bee977cef2b4cdb"/>
    <p:sldId xmlns:r="http://schemas.openxmlformats.org/officeDocument/2006/relationships" id="258" r:id="R514d96a0fd844a3a"/>
    <p:sldId xmlns:r="http://schemas.openxmlformats.org/officeDocument/2006/relationships" id="259" r:id="R26f90797cc284bee"/>
    <p:sldId xmlns:r="http://schemas.openxmlformats.org/officeDocument/2006/relationships" id="260" r:id="R2ede5ec359b44b40"/>
    <p:sldId xmlns:r="http://schemas.openxmlformats.org/officeDocument/2006/relationships" id="261" r:id="R6912b1c7c0004ff1"/>
    <p:sldId xmlns:r="http://schemas.openxmlformats.org/officeDocument/2006/relationships" id="262" r:id="Rbed85c4d7df44441"/>
    <p:sldId xmlns:r="http://schemas.openxmlformats.org/officeDocument/2006/relationships" id="263" r:id="Ra14fc4712ec14bdf"/>
    <p:sldId xmlns:r="http://schemas.openxmlformats.org/officeDocument/2006/relationships" id="264" r:id="R2e3486c250c64f2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def29778f417f" /><Relationship Type="http://schemas.openxmlformats.org/officeDocument/2006/relationships/theme" Target="/ppt/theme/theme1.xml" Id="Re9f80c23c2464a26" /><Relationship Type="http://schemas.openxmlformats.org/officeDocument/2006/relationships/notesMaster" Target="/ppt/notesMasters/notesMaster1.xml" Id="R7fa175cb85814aa0" /><Relationship Type="http://schemas.openxmlformats.org/officeDocument/2006/relationships/presProps" Target="/ppt/presProps.xml" Id="Rc5ed022afd5041c6" /><Relationship Type="http://schemas.openxmlformats.org/officeDocument/2006/relationships/viewProps" Target="/ppt/viewProps.xml" Id="Rfd2930d3c3294f1c" /><Relationship Type="http://schemas.openxmlformats.org/officeDocument/2006/relationships/tableStyles" Target="/ppt/tableStyles.xml" Id="R883c62508e05449d" /><Relationship Type="http://schemas.openxmlformats.org/officeDocument/2006/relationships/slide" Target="/ppt/slides/slide1.xml" Id="Ref3c68a85c2547da" /><Relationship Type="http://schemas.openxmlformats.org/officeDocument/2006/relationships/slide" Target="/ppt/slides/slide2.xml" Id="R4bee977cef2b4cdb" /><Relationship Type="http://schemas.openxmlformats.org/officeDocument/2006/relationships/slide" Target="/ppt/slides/slide3.xml" Id="R514d96a0fd844a3a" /><Relationship Type="http://schemas.openxmlformats.org/officeDocument/2006/relationships/slide" Target="/ppt/slides/slide4.xml" Id="R26f90797cc284bee" /><Relationship Type="http://schemas.openxmlformats.org/officeDocument/2006/relationships/slide" Target="/ppt/slides/slide5.xml" Id="R2ede5ec359b44b40" /><Relationship Type="http://schemas.openxmlformats.org/officeDocument/2006/relationships/slide" Target="/ppt/slides/slide6.xml" Id="R6912b1c7c0004ff1" /><Relationship Type="http://schemas.openxmlformats.org/officeDocument/2006/relationships/slide" Target="/ppt/slides/slide7.xml" Id="Rbed85c4d7df44441" /><Relationship Type="http://schemas.openxmlformats.org/officeDocument/2006/relationships/slide" Target="/ppt/slides/slide8.xml" Id="Ra14fc4712ec14bdf" /><Relationship Type="http://schemas.openxmlformats.org/officeDocument/2006/relationships/slide" Target="/ppt/slides/slide9.xml" Id="R2e3486c250c64f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a60b082fcc04a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3e5388c81e4c24" /><Relationship Type="http://schemas.openxmlformats.org/officeDocument/2006/relationships/notesMaster" Target="/ppt/notesMasters/notesMaster1.xml" Id="Re47553f48e6444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3849921954711" /><Relationship Type="http://schemas.openxmlformats.org/officeDocument/2006/relationships/notesMaster" Target="/ppt/notesMasters/notesMaster1.xml" Id="R56096c8e034f45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4bd4ec4bf643f4" /><Relationship Type="http://schemas.openxmlformats.org/officeDocument/2006/relationships/notesMaster" Target="/ppt/notesMasters/notesMaster1.xml" Id="Rb797cebb7d6c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e3973ce6d4413d" /><Relationship Type="http://schemas.openxmlformats.org/officeDocument/2006/relationships/notesMaster" Target="/ppt/notesMasters/notesMaster1.xml" Id="Rbb68da00bb6e46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e4595b118f4a50" /><Relationship Type="http://schemas.openxmlformats.org/officeDocument/2006/relationships/notesMaster" Target="/ppt/notesMasters/notesMaster1.xml" Id="R6704920322bb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5a7622860949bb" /><Relationship Type="http://schemas.openxmlformats.org/officeDocument/2006/relationships/notesMaster" Target="/ppt/notesMasters/notesMaster1.xml" Id="R7c674b53d2a74c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acb8021d87403c" /><Relationship Type="http://schemas.openxmlformats.org/officeDocument/2006/relationships/notesMaster" Target="/ppt/notesMasters/notesMaster1.xml" Id="Re959cbf1ab8a4d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e515bbc3554147" /><Relationship Type="http://schemas.openxmlformats.org/officeDocument/2006/relationships/notesMaster" Target="/ppt/notesMasters/notesMaster1.xml" Id="R7d62fe5994f14d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82e33935164334" /><Relationship Type="http://schemas.openxmlformats.org/officeDocument/2006/relationships/notesMaster" Target="/ppt/notesMasters/notesMaster1.xml" Id="R63d15b9a8d95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43c2ad8dc433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c1ef925a764fc7" /><Relationship Type="http://schemas.openxmlformats.org/officeDocument/2006/relationships/slideLayout" Target="/ppt/slideLayouts/slideLayout2.xml" Id="R78f47f0d550647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f47f0d550647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b795d4a81a496e" /><Relationship Type="http://schemas.openxmlformats.org/officeDocument/2006/relationships/notesSlide" Target="/ppt/notesSlides/notesSlide1.xml" Id="R84ca6e61c10647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b1546f3d4c4fe6" /><Relationship Type="http://schemas.openxmlformats.org/officeDocument/2006/relationships/notesSlide" Target="/ppt/notesSlides/notesSlide2.xml" Id="R54cd5bcb8b0e41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ca426afdb34268" /><Relationship Type="http://schemas.openxmlformats.org/officeDocument/2006/relationships/notesSlide" Target="/ppt/notesSlides/notesSlide3.xml" Id="Raddaf32a7ab448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4399a616c4fd7" /><Relationship Type="http://schemas.openxmlformats.org/officeDocument/2006/relationships/notesSlide" Target="/ppt/notesSlides/notesSlide4.xml" Id="Rd595fc4d9aed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da25c70ea407c" /><Relationship Type="http://schemas.openxmlformats.org/officeDocument/2006/relationships/notesSlide" Target="/ppt/notesSlides/notesSlide5.xml" Id="Rb89aa1fbb55d43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d9f95f664f4f43" /><Relationship Type="http://schemas.openxmlformats.org/officeDocument/2006/relationships/notesSlide" Target="/ppt/notesSlides/notesSlide6.xml" Id="Rac1672ab959248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97bc35f034a95" /><Relationship Type="http://schemas.openxmlformats.org/officeDocument/2006/relationships/notesSlide" Target="/ppt/notesSlides/notesSlide7.xml" Id="R12f702345e5b4e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6cabd1b2e044d1" /><Relationship Type="http://schemas.openxmlformats.org/officeDocument/2006/relationships/notesSlide" Target="/ppt/notesSlides/notesSlide8.xml" Id="Rc752792a4da94f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1037d25687474e" /><Relationship Type="http://schemas.openxmlformats.org/officeDocument/2006/relationships/notesSlide" Target="/ppt/notesSlides/notesSlide9.xml" Id="Re2a0dc9f9d3a4b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BAEDE-79F4-4DB9-B3C3-BC778236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05A4F"/>
                </a:solidFill>
              </a:defRPr>
            </a:pPr>
            <a:r>
              <a:rPr sz="1950" b="1">
                <a:solidFill>
                  <a:srgbClr val="F05A4F"/>
                </a:solidFill>
              </a:rPr>
              <a:t>Kai CMO Harness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551506-CED8-4C62-BE02-1974742C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72009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11827"/>
                </a:solidFill>
              </a:defRPr>
            </a:pPr>
            <a:r>
              <a:rPr sz="6150" b="1">
                <a:solidFill>
                  <a:srgbClr val="111827"/>
                </a:solidFill>
              </a:rPr>
              <a:t>From blank agency brief to working email system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D0AE5FA-C72E-4D72-8231-F4127E29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05550"/>
            <a:ext cx="7105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B6472"/>
                </a:solidFill>
              </a:defRPr>
            </a:pPr>
            <a:r>
              <a:rPr sz="2250">
                <a:solidFill>
                  <a:srgbClr val="5B6472"/>
                </a:solidFill>
              </a:rPr>
              <a:t>Demo client: Northstar Media Lab, a Facebook ads agency for local service companies.</a:t>
            </a:r>
          </a:p>
        </p:txBody>
      </p:sp>
      <p:sp>
        <p:nvSpPr>
          <p:cNvPr id="4" name="pill-brand">
            <a:extLst xmlns:a="http://schemas.openxmlformats.org/drawingml/2006/main">
              <a:ext uri="{FF2B5EF4-FFF2-40B4-BE49-F238E27FC236}">
                <a16:creationId xmlns:a16="http://schemas.microsoft.com/office/drawing/2014/main" id="{CDE4C2B8-EEA2-4E84-95C1-7C5BA59D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1700213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7F2F4-9805-4EAA-BC61-30F5C949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35330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Brand</a:t>
            </a:r>
          </a:p>
        </p:txBody>
      </p:sp>
      <p:sp>
        <p:nvSpPr>
          <p:cNvPr id="6" name="pill-map">
            <a:extLst xmlns:a="http://schemas.openxmlformats.org/drawingml/2006/main">
              <a:ext uri="{FF2B5EF4-FFF2-40B4-BE49-F238E27FC236}">
                <a16:creationId xmlns:a16="http://schemas.microsoft.com/office/drawing/2014/main" id="{7601AF94-9250-4132-8489-C982ED71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7258050"/>
            <a:ext cx="1700213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3A6CC-7949-4711-B0F8-A572EAB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735330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Map</a:t>
            </a:r>
          </a:p>
        </p:txBody>
      </p:sp>
      <p:sp>
        <p:nvSpPr>
          <p:cNvPr id="8" name="pill-emails">
            <a:extLst xmlns:a="http://schemas.openxmlformats.org/drawingml/2006/main">
              <a:ext uri="{FF2B5EF4-FFF2-40B4-BE49-F238E27FC236}">
                <a16:creationId xmlns:a16="http://schemas.microsoft.com/office/drawing/2014/main" id="{03567BDF-FE48-4D79-83A6-E06B799E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258050"/>
            <a:ext cx="1700213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53794-0A85-4A79-A59E-F70D4AD2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35330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Emails</a:t>
            </a:r>
          </a:p>
        </p:txBody>
      </p:sp>
      <p:sp>
        <p:nvSpPr>
          <p:cNvPr id="10" name="pill-loops">
            <a:extLst xmlns:a="http://schemas.openxmlformats.org/drawingml/2006/main">
              <a:ext uri="{FF2B5EF4-FFF2-40B4-BE49-F238E27FC236}">
                <a16:creationId xmlns:a16="http://schemas.microsoft.com/office/drawing/2014/main" id="{5828403D-B4FD-4942-914B-D39FBB7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7258050"/>
            <a:ext cx="1700213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C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3C53D-44D1-46F1-B093-1909420D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Loops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1A089-9AC9-42A7-94C4-CE97F1D9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AB07B-ADB4-4499-A35D-D4A2C45A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581400"/>
            <a:ext cx="6172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4419E-31F5-4987-AF3B-7B6B342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662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41E0C-6503-4F79-A47C-82E326FB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5720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32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1F715-CF3C-4CBA-A628-6B7969B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864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A85AA-9234-4DB1-A6BB-9991831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486400"/>
            <a:ext cx="5181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DE51C-5A9D-4893-AC84-FAE099E7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57950"/>
            <a:ext cx="880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241"/>
                </a:solidFill>
              </a:defRPr>
            </a:pPr>
            <a:r>
              <a:rPr sz="1575">
                <a:solidFill>
                  <a:srgbClr val="263241"/>
                </a:solidFill>
              </a:rPr>
              <a:t>audit.requested -&gt; audit.completed -&gt; diagnostic.booked -&gt; client.signed -&gt; weekly.report.ready</a:t>
            </a:r>
          </a:p>
        </p:txBody>
      </p:sp>
    </p:spTree>
    <p:extLst>
      <p:ext uri="{BB962C8B-B14F-4D97-AF65-F5344CB8AC3E}">
        <p14:creationId xmlns:p14="http://schemas.microsoft.com/office/powerpoint/2010/main" val="20352893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29A800-76CE-4E9F-924A-76DBBE52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Kai turns an unmapped agency into an installable email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30A86-38A0-465E-ABC7-EBCF8EB1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0670"/>
            <a:ext cx="5384800" cy="393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534D0-47B8-407A-98F3-2A8E093C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05A4F"/>
                </a:solidFill>
              </a:defRPr>
            </a:pPr>
            <a:r>
              <a:rPr sz="4050" b="1">
                <a:solidFill>
                  <a:srgbClr val="F05A4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28CFC-523D-4E86-A0A2-6C50A8C9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481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Brand bible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92B2F-CB1C-46CC-8C9B-A51F11C9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ICP, buyer language, offer, segments, demo metrics, and voice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488AC-8EEB-4840-A1B0-2371D07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550670"/>
            <a:ext cx="5384800" cy="393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51A76-6859-4CB5-A3EC-107CECCA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9070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EB"/>
                </a:solidFill>
              </a:defRPr>
            </a:pPr>
            <a:r>
              <a:rPr sz="40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A04C3-397A-4608-B77A-BC160AED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81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Lifecycle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27D25-7F60-4B94-8CE1-32806812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12 emails tied to Loops events, stage, priority, and audience segment.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54666-1FB9-4EF0-B958-19D0528F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1550670"/>
            <a:ext cx="5384800" cy="393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E46AA-1D5F-4640-A654-97EE014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79070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9F6E"/>
                </a:solidFill>
              </a:defRPr>
            </a:pPr>
            <a:r>
              <a:rPr sz="4050" b="1">
                <a:solidFill>
                  <a:srgbClr val="0F9F6E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03773-B7D1-4599-839A-7F9CD7DB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552700"/>
            <a:ext cx="481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Templates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7CC75-0713-49C7-BC9A-1B9AEEAF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97180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Templates for audit, sales, onboarding, retention, referral, and win-back.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9DEA9-801F-4CA2-8926-6457C84B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7860"/>
            <a:ext cx="5384800" cy="393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6EDD5-A89E-4CB8-951C-CD8459F4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8170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1A32A"/>
                </a:solidFill>
              </a:defRPr>
            </a:pPr>
            <a:r>
              <a:rPr sz="4050" b="1">
                <a:solidFill>
                  <a:srgbClr val="E1A32A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1E1FD-769B-4C5B-A640-75F310AF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43700"/>
            <a:ext cx="481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0FBF2-B085-4035-AD86-B44A96F4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16280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Subject, preview, body length, banned-word, and slop checks recorded.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E43D6-D594-443D-B3B7-686E84C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737860"/>
            <a:ext cx="5384800" cy="393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E2606-F1EE-4120-9AE1-5053EE25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8170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63241"/>
                </a:solidFill>
              </a:defRPr>
            </a:pPr>
            <a:r>
              <a:rPr sz="4050" b="1">
                <a:solidFill>
                  <a:srgbClr val="263241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DCF75-01C8-42BC-AD40-7F72A5A0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481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Loops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7DA76-B511-4B43-8707-BCD1E697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16280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Events, segments, custom fields, and sequence flow notes ready for build.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9F3C8-75F8-497E-B3E7-0C36251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5737860"/>
            <a:ext cx="5384800" cy="393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45AEB-119C-478B-93E6-2449E7EF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981700"/>
            <a:ext cx="481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Demo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31CB2-14F0-4F31-8094-CF7D9E5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1985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7ECF3"/>
                </a:solidFill>
              </a:defRPr>
            </a:pPr>
            <a:r>
              <a:rPr sz="1950">
                <a:solidFill>
                  <a:srgbClr val="E7ECF3"/>
                </a:solidFill>
              </a:rPr>
              <a:t>The output is not just copy. It is the operating logic around the copy.</a:t>
            </a:r>
          </a:p>
        </p:txBody>
      </p:sp>
    </p:spTree>
    <p:extLst>
      <p:ext uri="{BB962C8B-B14F-4D97-AF65-F5344CB8AC3E}">
        <p14:creationId xmlns:p14="http://schemas.microsoft.com/office/powerpoint/2010/main" val="7769412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4982D6-91D2-4242-8C53-CEDE09AF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16725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The map keeps every email attached to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0B2D4-36BA-4D4A-937A-A6378A4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50633-8815-4B72-9B66-819ECCF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Welcome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7DCD8-472D-41A7-9C44-19B14681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5A4F"/>
                </a:solidFill>
              </a:defRPr>
            </a:pPr>
            <a:r>
              <a:rPr sz="1350">
                <a:solidFill>
                  <a:srgbClr val="F05A4F"/>
                </a:solidFill>
              </a:rPr>
              <a:t>audit.requested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B5D5C-3E0D-4B7B-A6F0-1CCC0A9B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Confirm request and ask for service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75FDC-9CC6-4C33-B756-D76B3A9B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43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D9833-8594-4D43-ABA3-E829884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859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Nurture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B0786-D90A-425D-A147-208FE45A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63EB"/>
                </a:solidFill>
              </a:defRPr>
            </a:pPr>
            <a:r>
              <a:rPr sz="1350">
                <a:solidFill>
                  <a:srgbClr val="2563EB"/>
                </a:solidFill>
              </a:rPr>
              <a:t>audit.completed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35BB8-8B46-4FBE-A24C-E7726FA6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Deliver score and expose the booked-call gap.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BDC65-5166-4874-A16F-A7CBD459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43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32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B4ED7-E8F2-407E-80A4-2E2E0D11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859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4FC72-1419-4C42-BE8C-C2AA799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669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1A32A"/>
                </a:solidFill>
              </a:defRPr>
            </a:pPr>
            <a:r>
              <a:rPr sz="1350">
                <a:solidFill>
                  <a:srgbClr val="E1A32A"/>
                </a:solidFill>
              </a:rPr>
              <a:t>proposal.sent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79EFC-E74F-4D28-AFAC-C83F324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Turn audit interest into a clear buying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33279-AA78-45EC-BBD4-31A0AE4D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543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8A8D7-426A-4F21-8F60-250F5884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4859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Onboarding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1DD95-C679-463A-800B-71F3DDFA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669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9F6E"/>
                </a:solidFill>
              </a:defRPr>
            </a:pPr>
            <a:r>
              <a:rPr sz="1350">
                <a:solidFill>
                  <a:srgbClr val="0F9F6E"/>
                </a:solidFill>
              </a:rPr>
              <a:t>client.signed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13A48-46FA-48D9-8086-C4E922B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1907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Collect access and prepare the first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CFAFD-E3BD-4F1C-9EE0-60573897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322A2-245F-4407-88B1-4082C225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Activation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FFFFC-88FE-4FCB-90B1-CBC732B5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9F6E"/>
                </a:solidFill>
              </a:defRPr>
            </a:pPr>
            <a:r>
              <a:rPr sz="1350">
                <a:solidFill>
                  <a:srgbClr val="0F9F6E"/>
                </a:solidFill>
              </a:rPr>
              <a:t>first.test.live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273B1-4057-4D81-B4DC-E25CD3A3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Show what is live and what gets measured.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9CB5E-9D96-491D-9E77-CC28ADA7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4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6CCE5-0C49-476A-8D1C-A199E3CB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864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B4D0E-67FE-4ABA-BA91-D34F8F92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674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63EB"/>
                </a:solidFill>
              </a:defRPr>
            </a:pPr>
            <a:r>
              <a:rPr sz="1350">
                <a:solidFill>
                  <a:srgbClr val="2563EB"/>
                </a:solidFill>
              </a:rPr>
              <a:t>weekly.report.ready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F0BA0-0637-4C9F-8D1A-47FC6829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912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Make reporting a decision rhythm.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52F8F-5E05-4E62-90F4-C530CE07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4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C5662-EE16-4C59-932D-BD0C867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4864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Referral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97AB36-A910-485E-9B0A-F778F64C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674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5A4F"/>
                </a:solidFill>
              </a:defRPr>
            </a:pPr>
            <a:r>
              <a:rPr sz="1350">
                <a:solidFill>
                  <a:srgbClr val="F05A4F"/>
                </a:solidFill>
              </a:rPr>
              <a:t>client.milestone.90d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85930-85B2-4991-92FA-F2F1ADAF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912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Ask after account health is visible.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5E98F-842E-4FB3-BB4F-BCAB931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54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BAE912-4F95-43C6-86BC-4AF004C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486400"/>
            <a:ext cx="369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Win-back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0DCDD-78D9-4ED0-9B4C-8BAA37D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8674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241"/>
                </a:solidFill>
              </a:defRPr>
            </a:pPr>
            <a:r>
              <a:rPr sz="1350">
                <a:solidFill>
                  <a:srgbClr val="263241"/>
                </a:solidFill>
              </a:rPr>
              <a:t>prospect.inactive_30d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5E1666-5A87-4DE6-B8CB-2B6A6C0C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19125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Restart or cleanly close stalled prospects.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B7C234-F92D-4ECC-A7D6-46AE21C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48800"/>
            <a:ext cx="16725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Each trigger is a Loops event name, so the strategy can be installed without translating it again.</a:t>
            </a:r>
          </a:p>
        </p:txBody>
      </p:sp>
    </p:spTree>
    <p:extLst>
      <p:ext uri="{BB962C8B-B14F-4D97-AF65-F5344CB8AC3E}">
        <p14:creationId xmlns:p14="http://schemas.microsoft.com/office/powerpoint/2010/main" val="3289785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D6D35-3626-4105-A5D1-DD3079DC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7696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Lead-to-call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D7082-7012-46C3-B83D-A0A2B195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7696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B6472"/>
                </a:solidFill>
              </a:defRPr>
            </a:pPr>
            <a:r>
              <a:rPr sz="2250">
                <a:solidFill>
                  <a:srgbClr val="5B6472"/>
                </a:solidFill>
              </a:rPr>
              <a:t>The first sequence moves the owner from curiosity to a 30-minute diagnostic call.</a:t>
            </a:r>
          </a:p>
        </p:txBody>
      </p:sp>
      <p:sp>
        <p:nvSpPr>
          <p:cNvPr id="3" name="pill-p0">
            <a:extLst xmlns:a="http://schemas.openxmlformats.org/drawingml/2006/main">
              <a:ext uri="{FF2B5EF4-FFF2-40B4-BE49-F238E27FC236}">
                <a16:creationId xmlns:a16="http://schemas.microsoft.com/office/drawing/2014/main" id="{CC65B450-D6F2-45D4-9F84-BDE4572B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9720"/>
            <a:ext cx="2474913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D6655-6D1C-4F00-AE0F-A46BEAE1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P0</a:t>
            </a:r>
          </a:p>
        </p:txBody>
      </p:sp>
      <p:sp>
        <p:nvSpPr>
          <p:cNvPr id="5" name="pill-audit-lead">
            <a:extLst xmlns:a="http://schemas.openxmlformats.org/drawingml/2006/main">
              <a:ext uri="{FF2B5EF4-FFF2-40B4-BE49-F238E27FC236}">
                <a16:creationId xmlns:a16="http://schemas.microsoft.com/office/drawing/2014/main" id="{F30DF946-81B1-4C22-A156-9A398C8E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313" y="5379720"/>
            <a:ext cx="2474913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00EB0-0BAD-48B2-8202-72C0D845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6735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Audit lead</a:t>
            </a:r>
          </a:p>
        </p:txBody>
      </p:sp>
      <p:sp>
        <p:nvSpPr>
          <p:cNvPr id="7" name="pill-sales-qualified">
            <a:extLst xmlns:a="http://schemas.openxmlformats.org/drawingml/2006/main">
              <a:ext uri="{FF2B5EF4-FFF2-40B4-BE49-F238E27FC236}">
                <a16:creationId xmlns:a16="http://schemas.microsoft.com/office/drawing/2014/main" id="{D0E0E6E3-07CC-4C96-A66A-8A0BFA8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575" y="5379720"/>
            <a:ext cx="2474913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C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B2C91-3F64-4F26-B29A-B2E2FA2B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Sales-qualified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BB775-BF45-40EA-B431-E4D0AA77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7696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827"/>
                </a:solidFill>
              </a:defRPr>
            </a:pPr>
            <a:r>
              <a:rPr sz="2400">
                <a:solidFill>
                  <a:srgbClr val="111827"/>
                </a:solidFill>
              </a:rPr>
              <a:t>The copy keeps returning to the same business question: did Facebook create booked-call signal or only form fills?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18AF7-276F-45AF-9A08-B68DC13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7E117-31E9-48D7-833D-AB87E86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824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Audit request received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4F9F9-A93B-4AD4-9026-11A4E619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000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5A4F"/>
                </a:solidFill>
              </a:defRPr>
            </a:pPr>
            <a:r>
              <a:rPr sz="1350">
                <a:solidFill>
                  <a:srgbClr val="F05A4F"/>
                </a:solidFill>
              </a:rPr>
              <a:t>audit.requested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68AAB-3E2F-4E3B-8BEB-73B7D4A8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3385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Confirm queue and ask for service area + job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FFB88-FF42-4164-9CA7-6C378D04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958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A6B53-8643-4915-9165-F4F923B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F9459-D048-47D8-91D1-CB4CEA6E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05350"/>
            <a:ext cx="824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Your audit score is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F997C-1471-4861-9200-11537F8B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63EB"/>
                </a:solidFill>
              </a:defRPr>
            </a:pPr>
            <a:r>
              <a:rPr sz="1350">
                <a:solidFill>
                  <a:srgbClr val="2563EB"/>
                </a:solidFill>
              </a:rPr>
              <a:t>audit.completed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4BB39-21D5-435E-9308-51AA22AE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1020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Deliver scorecard and identify three spend leaks.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8E8DC-21A7-4E3C-B0CF-28AF3659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7721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42E3E-FA44-4FC6-A823-5FB7A8FE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38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32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82915-D8E0-43EA-BBFF-582C67FF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62650"/>
            <a:ext cx="824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Book the diagnostic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210F8-7170-47AC-B8EB-97DC9D4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6270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1A32A"/>
                </a:solidFill>
              </a:defRPr>
            </a:pPr>
            <a:r>
              <a:rPr sz="1350">
                <a:solidFill>
                  <a:srgbClr val="E1A32A"/>
                </a:solidFill>
              </a:rPr>
              <a:t>audit.opened_no_call_24h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91A05-319A-43C6-848A-E9DA3E93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66750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Turn engaged readers into a test-plan call.</a:t>
            </a:r>
          </a:p>
        </p:txBody>
      </p:sp>
    </p:spTree>
    <p:extLst>
      <p:ext uri="{BB962C8B-B14F-4D97-AF65-F5344CB8AC3E}">
        <p14:creationId xmlns:p14="http://schemas.microsoft.com/office/powerpoint/2010/main" val="12750855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FB290-7558-438C-BD8F-42B6F031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69723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Example template: audit score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8D467-5A82-4AB3-B2F6-FA46E21F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6972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B6472"/>
                </a:solidFill>
              </a:defRPr>
            </a:pPr>
            <a:r>
              <a:rPr sz="2250">
                <a:solidFill>
                  <a:srgbClr val="5B6472"/>
                </a:solidFill>
              </a:rPr>
              <a:t>Kai writes the message as a business decision, not a generic nurture email.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62010-5F63-4F67-BF38-B0997D9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F"/>
          </a:solidFill>
          <a:ln xmlns:a="http://schemas.openxmlformats.org/drawingml/2006/main" w="0">
            <a:solidFill>
              <a:srgbClr val="F05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DD1D4-3DEE-4D6C-A801-BFBD6F4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697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Use this slide to show how one template carries trigger, segment, subject variants, preview text, body, CTA, and gate results.</a:t>
            </a:r>
          </a:p>
        </p:txBody>
      </p:sp>
      <p:sp>
        <p:nvSpPr>
          <p:cNvPr id="5" name="email-Your audit score is ready">
            <a:extLst xmlns:a="http://schemas.openxmlformats.org/drawingml/2006/main">
              <a:ext uri="{FF2B5EF4-FFF2-40B4-BE49-F238E27FC236}">
                <a16:creationId xmlns:a16="http://schemas.microsoft.com/office/drawing/2014/main" id="{70A88417-6195-4CC8-B696-9BEBCB6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52450"/>
            <a:ext cx="9420225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69D99-75BE-4A5C-B64F-427A7852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800100"/>
            <a:ext cx="880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Your audit score is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23876-DACC-45A9-98C8-218BAF29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81100"/>
            <a:ext cx="880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73D11-B20A-4A47-BA93-82BE10A0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33500"/>
            <a:ext cx="880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Subject: Your audit score is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0A75B-8378-46F4-8905-62706F2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95450"/>
            <a:ext cx="880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Your scorecard shows the first fixes we would make this week.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6DE3B-83EE-4514-9C73-C49F57B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880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The score is not a grade on your business. It is a map of where the ad account asks you to trust weak signals. The fastest fix is not a bigger budget. It is a cleaner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BC753-041E-45CD-8666-708029E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96765-2C2F-46BC-9921-51CFB110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859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5A4F"/>
                </a:solidFill>
              </a:defRPr>
            </a:pPr>
            <a:r>
              <a:rPr sz="1425" b="1">
                <a:solidFill>
                  <a:srgbClr val="F05A4F"/>
                </a:solidFill>
              </a:rPr>
              <a:t>CTA: Book the 30-minute diagnostic call.</a:t>
            </a:r>
          </a:p>
        </p:txBody>
      </p:sp>
    </p:spTree>
    <p:extLst>
      <p:ext uri="{BB962C8B-B14F-4D97-AF65-F5344CB8AC3E}">
        <p14:creationId xmlns:p14="http://schemas.microsoft.com/office/powerpoint/2010/main" val="5010236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8877D9-79D8-4DF5-A25D-7686E6A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After the sale, the emails switch from persuasion to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3B2A1-DE94-4C95-979F-16E135A7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31620"/>
            <a:ext cx="5372100" cy="7532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E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5A7DB-0979-4D59-9266-F9FF1BA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472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EC5AB-6377-41C6-8A8B-6DC1BCBD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4724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Collect Meta, pixel, CRM, call tracking, service line, and service area before spend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326C1-1751-44F3-AC7E-3AA90384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9F6E"/>
                </a:solidFill>
              </a:defRPr>
            </a:pPr>
            <a:r>
              <a:rPr sz="1350">
                <a:solidFill>
                  <a:srgbClr val="0F9F6E"/>
                </a:solidFill>
              </a:rPr>
              <a:t>Trigger: client.signed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989D3-055D-4B80-815F-1BBB459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31620"/>
            <a:ext cx="5372100" cy="7532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70ED0-4AF1-4C8A-BC8C-58214D7E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472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Kickoff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1D0C5-30F5-471B-896D-8913E2F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24100"/>
            <a:ext cx="47244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Frame the call around four decisions: service line, area, buyer belief, and qualified lead definition.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8D7AB-7126-4350-BA63-42DF961D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1752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63EB"/>
                </a:solidFill>
              </a:defRPr>
            </a:pPr>
            <a:r>
              <a:rPr sz="1350">
                <a:solidFill>
                  <a:srgbClr val="2563EB"/>
                </a:solidFill>
              </a:rPr>
              <a:t>Trigger: kickoff.scheduled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0027A-5612-4B87-A625-EC8B49B7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1531620"/>
            <a:ext cx="5372100" cy="7532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5FB00-5A4B-42BE-85F1-F6419193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809750"/>
            <a:ext cx="472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Weekly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82425-1630-4E25-917D-F3F4C440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324100"/>
            <a:ext cx="4724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Turn reporting into next-week action: spend, qualified calls, and creative test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BF75F-AF29-4C47-9E9B-E60AA336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105150"/>
            <a:ext cx="196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1A32A"/>
                </a:solidFill>
              </a:defRPr>
            </a:pPr>
            <a:r>
              <a:rPr sz="1350">
                <a:solidFill>
                  <a:srgbClr val="E1A32A"/>
                </a:solidFill>
              </a:rPr>
              <a:t>Trigger: weekly.report.ready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57B23-D05E-4BD4-83FE-758BF2F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916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B6472"/>
                </a:solidFill>
              </a:defRPr>
            </a:pPr>
            <a:r>
              <a:rPr sz="2025">
                <a:solidFill>
                  <a:srgbClr val="5B6472"/>
                </a:solidFill>
              </a:rPr>
              <a:t>This is the shift prospects feel: the agency stops selling and starts running the operating cadence.</a:t>
            </a:r>
          </a:p>
        </p:txBody>
      </p:sp>
    </p:spTree>
    <p:extLst>
      <p:ext uri="{BB962C8B-B14F-4D97-AF65-F5344CB8AC3E}">
        <p14:creationId xmlns:p14="http://schemas.microsoft.com/office/powerpoint/2010/main" val="17193181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4C96F-5C6D-425F-88B5-C5400AFC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16725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Loops setup comes out with the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6844-F6BF-4961-9C86-6134E939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16725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B6472"/>
                </a:solidFill>
              </a:defRPr>
            </a:pPr>
            <a:r>
              <a:rPr sz="2175">
                <a:solidFill>
                  <a:srgbClr val="5B6472"/>
                </a:solidFill>
              </a:rPr>
              <a:t>The implementation note lists what the operator needs to build the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DC5D0-D6C5-49EE-9C5B-2A3A0E32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3590"/>
            <a:ext cx="8220075" cy="3716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DFCB7-B8E7-4A0E-A639-19249522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1A89A-D147-4E98-8695-4D85EC8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7658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7ECF3"/>
                </a:solidFill>
              </a:defRPr>
            </a:pPr>
            <a:r>
              <a:rPr sz="1575">
                <a:solidFill>
                  <a:srgbClr val="E7ECF3"/>
                </a:solidFill>
              </a:rPr>
              <a:t>audit.requested</a:t>
            </a:r>
          </a:p>
          <a:p xmlns:a="http://schemas.openxmlformats.org/drawingml/2006/main">
            <a:pPr>
              <a:defRPr sz="1575">
                <a:solidFill>
                  <a:srgbClr val="E7ECF3"/>
                </a:solidFill>
              </a:defRPr>
            </a:pPr>
            <a:r>
              <a:rPr sz="1575">
                <a:solidFill>
                  <a:srgbClr val="E7ECF3"/>
                </a:solidFill>
              </a:rPr>
              <a:t>proposal.sent</a:t>
            </a:r>
          </a:p>
          <a:p xmlns:a="http://schemas.openxmlformats.org/drawingml/2006/main">
            <a:pPr>
              <a:defRPr sz="1575">
                <a:solidFill>
                  <a:srgbClr val="E7ECF3"/>
                </a:solidFill>
              </a:defRPr>
            </a:pPr>
            <a:r>
              <a:rPr sz="1575">
                <a:solidFill>
                  <a:srgbClr val="E7ECF3"/>
                </a:solidFill>
              </a:rPr>
              <a:t>client.signed</a:t>
            </a:r>
          </a:p>
          <a:p xmlns:a="http://schemas.openxmlformats.org/drawingml/2006/main">
            <a:pPr>
              <a:defRPr sz="1575">
                <a:solidFill>
                  <a:srgbClr val="E7ECF3"/>
                </a:solidFill>
              </a:defRPr>
            </a:pPr>
            <a:r>
              <a:rPr sz="1575">
                <a:solidFill>
                  <a:srgbClr val="E7ECF3"/>
                </a:solidFill>
              </a:rPr>
              <a:t>weekly.report.ready</a:t>
            </a:r>
          </a:p>
          <a:p xmlns:a="http://schemas.openxmlformats.org/drawingml/2006/main">
            <a:pPr>
              <a:defRPr sz="1575">
                <a:solidFill>
                  <a:srgbClr val="E7ECF3"/>
                </a:solidFill>
              </a:defRPr>
            </a:pPr>
            <a:r>
              <a:rPr sz="1575">
                <a:solidFill>
                  <a:srgbClr val="E7ECF3"/>
                </a:solidFill>
              </a:rPr>
              <a:t>prospect.inactive_30d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14AB2-9F3A-469F-ADC8-33CB17C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3590"/>
            <a:ext cx="8220075" cy="3716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E4FD7-BC59-4CBA-A506-6210A179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Segments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26854-225F-45F0-A7E1-C477719E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Audit lead, sales-qualified prospect, proposal open, new client, active client, inactive prospect.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A427B-2ED2-43CC-A366-7EA37211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8845"/>
            <a:ext cx="8220075" cy="3716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652EF-4899-43E1-B501-372E8B29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484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1F47A-8990-481A-B588-206CD0BB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6750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service_area, average_job_value, primary_service_line, audit_score, proposal_url, weekly_report_url.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2F03C-ABAC-440E-A6B6-3711C0A4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998845"/>
            <a:ext cx="8220075" cy="3716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26A59-2E35-4FBA-87A2-53620BB3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2484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A9D1C-3900-4F58-94D0-B771BBE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6750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</a:defRPr>
            </a:pPr>
            <a:r>
              <a:rPr sz="1950">
                <a:solidFill>
                  <a:srgbClr val="5B6472"/>
                </a:solidFill>
              </a:rPr>
              <a:t>Transactional messages stay tied to service events. Marketing emails need unsubscribe handling.</a:t>
            </a:r>
          </a:p>
        </p:txBody>
      </p:sp>
    </p:spTree>
    <p:extLst>
      <p:ext uri="{BB962C8B-B14F-4D97-AF65-F5344CB8AC3E}">
        <p14:creationId xmlns:p14="http://schemas.microsoft.com/office/powerpoint/2010/main" val="14468524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26F31-7475-4FE1-B0F9-641D538F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Quality gates make the demo feel like a system, not a writing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B7E8D-EAF5-4943-80EA-7F331907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9720"/>
            <a:ext cx="39766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B047F-A6E0-47CF-B365-7BEA34AD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28800"/>
            <a:ext cx="8001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05A4F"/>
                </a:solidFill>
              </a:defRPr>
            </a:pPr>
            <a:r>
              <a:rPr sz="6150" b="1">
                <a:solidFill>
                  <a:srgbClr val="F05A4F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21BC6-E890-43FE-901C-C10FBA75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email templates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7A060-E01E-4EE4-897D-3140F766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1569720"/>
            <a:ext cx="39766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9644A-EFBB-49BA-B6EA-6790FF2F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28800"/>
            <a:ext cx="8001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F9F6E"/>
                </a:solidFill>
              </a:defRPr>
            </a:pPr>
            <a:r>
              <a:rPr sz="6150" b="1">
                <a:solidFill>
                  <a:srgbClr val="0F9F6E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13FBE-52E7-4A3C-9CC4-D4D86AF9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29050"/>
            <a:ext cx="1695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passed local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36E3F-B5DF-4EBF-8127-1A7226E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69720"/>
            <a:ext cx="39766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CAD94-F067-45F8-B41D-3F438D5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28800"/>
            <a:ext cx="4000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2563EB"/>
                </a:solidFill>
              </a:defRPr>
            </a:pPr>
            <a:r>
              <a:rPr sz="615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52763-8A7D-431A-9793-8CD37709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35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banned 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B3A1F-F9A5-4941-8A15-12A1CAB6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1569720"/>
            <a:ext cx="39766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53A99-F77C-453D-B2A4-6E0D3D7D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1828800"/>
            <a:ext cx="3448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1A32A"/>
                </a:solidFill>
              </a:defRPr>
            </a:pPr>
            <a:r>
              <a:rPr sz="5700" b="1">
                <a:solidFill>
                  <a:srgbClr val="E1A32A"/>
                </a:solidFill>
              </a:rPr>
              <a:t>200+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ADA5E-65C1-4387-84A8-C8E256FC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819400"/>
            <a:ext cx="3448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body words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26F5A-77EF-4723-B3BD-42B8F9D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2401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Four U's scoring is included as a manual demo score because the local Gemini key is not configured. The other gate scripts were run against the 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7940D-EFBF-43A1-9BC6-C6C91A61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9610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Use this slide to explain that Kai catches weak language before the operator ships or installs anything.</a:t>
            </a:r>
          </a:p>
        </p:txBody>
      </p:sp>
    </p:spTree>
    <p:extLst>
      <p:ext uri="{BB962C8B-B14F-4D97-AF65-F5344CB8AC3E}">
        <p14:creationId xmlns:p14="http://schemas.microsoft.com/office/powerpoint/2010/main" val="13135708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C6440-F33E-404F-B2CB-5227A7BF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843915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11827"/>
                </a:solidFill>
              </a:defRPr>
            </a:pPr>
            <a:r>
              <a:rPr sz="6150" b="1">
                <a:solidFill>
                  <a:srgbClr val="111827"/>
                </a:solidFill>
              </a:rPr>
              <a:t>The point: Kai converts marketing work into an operating artifact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5AD49-1A8A-42D3-AC62-48391E9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8039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B6472"/>
                </a:solidFill>
              </a:defRPr>
            </a:pPr>
            <a:r>
              <a:rPr sz="2400">
                <a:solidFill>
                  <a:srgbClr val="5B6472"/>
                </a:solidFill>
              </a:rPr>
              <a:t>Strategy becomes map. Map becomes templates. Templates pass gates. The result is ready for an operator to install.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4E2F4-17DA-4EE6-B064-79B1337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86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61C5C-AE03-43C3-BAFB-B1E72D4B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2895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Open during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87D35-915F-4D69-B5BE-768C953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0995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5A4F"/>
                </a:solidFill>
              </a:defRPr>
            </a:pPr>
            <a:r>
              <a:rPr sz="1350">
                <a:solidFill>
                  <a:srgbClr val="F05A4F"/>
                </a:solidFill>
              </a:rPr>
              <a:t>MARKETING.md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482EB-0F3E-4301-AB92-89583941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338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Show how the fictional client gets a brand bible.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C8111-D610-4D2E-B255-186166F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5E920-D8C6-4615-8F92-05AA2AAC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3385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Then show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DD570-005F-4E83-9923-B54B703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339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63EB"/>
                </a:solidFill>
              </a:defRPr>
            </a:pPr>
            <a:r>
              <a:rPr sz="1350">
                <a:solidFill>
                  <a:srgbClr val="2563EB"/>
                </a:solidFill>
              </a:rPr>
              <a:t>emails/_email-system-map.md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44FA5-4483-42AA-8B40-E8045386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387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The control layer for all templates.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64D4B-118E-49ED-9130-7A74EC01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14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32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A3268-1D12-4721-A0B9-AC4D0E15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5780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Then show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0BFCB-2E41-4C48-9D06-F22AFD63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6388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1A32A"/>
                </a:solidFill>
              </a:defRPr>
            </a:pPr>
            <a:r>
              <a:rPr sz="1350">
                <a:solidFill>
                  <a:srgbClr val="E1A32A"/>
                </a:solidFill>
              </a:rPr>
              <a:t>emails/nurture/audit-score-ready.md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68D3B-4054-4532-95AE-5B69A5EF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6265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A real Loops-ready email example.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9F993-6F17-4601-BE07-ACA730A2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43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61CC5-FA3B-4EB3-BFC7-7EBF590B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6270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Close 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D1818-C104-427B-9D32-A76B1F78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7437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9F6E"/>
                </a:solidFill>
              </a:defRPr>
            </a:pPr>
            <a:r>
              <a:rPr sz="1350">
                <a:solidFill>
                  <a:srgbClr val="0F9F6E"/>
                </a:solidFill>
              </a:rPr>
              <a:t>emails/_loops-setup.md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274DD-B6B1-4CC5-8B4A-45AF40F8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6755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Events, fields, segments, and flow notes.</a:t>
            </a:r>
          </a:p>
        </p:txBody>
      </p:sp>
    </p:spTree>
    <p:extLst>
      <p:ext uri="{BB962C8B-B14F-4D97-AF65-F5344CB8AC3E}">
        <p14:creationId xmlns:p14="http://schemas.microsoft.com/office/powerpoint/2010/main" val="297423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2026-05-08T17:55:48.0490000Z</dcterms:created>
  <dcterms:modified xsi:type="dcterms:W3CDTF">2026-05-08T17:55:48.0500000Z</dcterms:modified>
</coreProperties>
</file>